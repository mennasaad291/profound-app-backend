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914400"/>
            <a:ext cx="5486400" cy="5486400"/>
          </a:xfrm>
          <a:prstGeom prst="ellipse">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3657600"/>
            <a:ext cx="4572000" cy="4572000"/>
          </a:xfrm>
          <a:prstGeom prst="ellipse">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760"/>
            <a:ext cx="11247120" cy="1097280"/>
          </a:xfrm>
          <a:prstGeom prst="rect">
            <a:avLst/>
          </a:prstGeom>
          <a:noFill/>
        </p:spPr>
        <p:txBody>
          <a:bodyPr wrap="square">
            <a:spAutoFit/>
          </a:bodyPr>
          <a:lstStyle/>
          <a:p>
            <a:pPr>
              <a:defRPr sz="4400" b="1">
                <a:solidFill>
                  <a:srgbClr val="9333EA"/>
                </a:solidFill>
                <a:latin typeface="Calibri"/>
              </a:defRPr>
            </a:pPr>
            <a:r>
              <a:t>What is Photosynthesis?</a:t>
            </a:r>
          </a:p>
        </p:txBody>
      </p:sp>
      <p:sp>
        <p:nvSpPr>
          <p:cNvPr id="5" name="Rectangle 4"/>
          <p:cNvSpPr/>
          <p:nvPr/>
        </p:nvSpPr>
        <p:spPr>
          <a:xfrm>
            <a:off x="457200" y="1554480"/>
            <a:ext cx="1371600" cy="45720"/>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10698480" cy="4114800"/>
          </a:xfrm>
          <a:prstGeom prst="rect">
            <a:avLst/>
          </a:prstGeom>
          <a:noFill/>
        </p:spPr>
        <p:txBody>
          <a:bodyPr wrap="square">
            <a:spAutoFit/>
          </a:bodyPr>
          <a:lstStyle/>
          <a:p>
            <a:pPr>
              <a:spcBef>
                <a:spcPts val="600"/>
              </a:spcBef>
              <a:spcAft>
                <a:spcPts val="600"/>
              </a:spcAft>
              <a:defRPr sz="1800">
                <a:solidFill>
                  <a:srgbClr val="0F172A"/>
                </a:solidFill>
                <a:latin typeface="Calibri"/>
              </a:defRPr>
            </a:pPr>
            <a:r>
              <a:t>Photosynthesis is the process by which plants, algae, and some bacteria convert light energy from the sun into chemical energy in the form of glucose. This process is essential for life on Earth as it provides the primary source of energy for nearly all organisms. For example, trees use photosynthesis to produce the glucose that they need to grow and thrive, and in turn, they provide oxygen as a byproduct for other living things to breathe.</a:t>
            </a:r>
          </a:p>
          <a:p>
            <a:pPr>
              <a:spcBef>
                <a:spcPts val="600"/>
              </a:spcBef>
              <a:spcAft>
                <a:spcPts val="600"/>
              </a:spcAft>
              <a:defRPr sz="1800">
                <a:solidFill>
                  <a:srgbClr val="0F172A"/>
                </a:solidFill>
                <a:latin typeface="Calibri"/>
              </a:defRPr>
            </a:pPr>
            <a:r>
              <a:t>Photosynthesis occurs in specialized organelles called chloroplasts, which contain the pigment chlorophyll that absorbs light energy. Chlorophyll gives plants their green color and is responsible for absorbing light in the blue and red parts of the visible spectrum, but reflecting light in the green part of the spectrum.</a:t>
            </a:r>
          </a:p>
        </p:txBody>
      </p:sp>
      <p:sp>
        <p:nvSpPr>
          <p:cNvPr id="7" name="TextBox 6"/>
          <p:cNvSpPr txBox="1"/>
          <p:nvPr/>
        </p:nvSpPr>
        <p:spPr>
          <a:xfrm>
            <a:off x="731520" y="5303520"/>
            <a:ext cx="10698480" cy="914400"/>
          </a:xfrm>
          <a:prstGeom prst="rect">
            <a:avLst/>
          </a:prstGeom>
          <a:noFill/>
        </p:spPr>
        <p:txBody>
          <a:bodyPr wrap="square">
            <a:spAutoFit/>
          </a:bodyPr>
          <a:lstStyle/>
          <a:p>
            <a:pPr>
              <a:defRPr sz="1200">
                <a:solidFill>
                  <a:srgbClr val="0F172A"/>
                </a:solidFill>
                <a:latin typeface="Calibri"/>
              </a:defRPr>
            </a:pPr>
            <a:r>
              <a:t>Notes: Highlight the importance of photosynthesis</a:t>
            </a:r>
            <a:br/>
            <a:r>
              <a:t> Emphasize that it's the primary source of energy for nearly all organisms</a:t>
            </a:r>
          </a:p>
        </p:txBody>
      </p:sp>
      <p:sp>
        <p:nvSpPr>
          <p:cNvPr id="8" name="TextBox 7"/>
          <p:cNvSpPr txBox="1"/>
          <p:nvPr/>
        </p:nvSpPr>
        <p:spPr>
          <a:xfrm>
            <a:off x="731520" y="6217920"/>
            <a:ext cx="10698480" cy="548640"/>
          </a:xfrm>
          <a:prstGeom prst="rect">
            <a:avLst/>
          </a:prstGeom>
          <a:noFill/>
        </p:spPr>
        <p:txBody>
          <a:bodyPr wrap="none">
            <a:spAutoFit/>
          </a:bodyPr>
          <a:lstStyle/>
          <a:p>
            <a:pPr>
              <a:defRPr sz="1100" i="1">
                <a:solidFill>
                  <a:srgbClr val="9333EA"/>
                </a:solidFill>
              </a:defRPr>
            </a:pPr>
            <a:r>
              <a:t>🎬 Watch related video on YouTube: https://www.youtube.com/results?search_query=Photosynthesis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914400"/>
            <a:ext cx="5486400" cy="5486400"/>
          </a:xfrm>
          <a:prstGeom prst="ellipse">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3657600"/>
            <a:ext cx="4572000" cy="4572000"/>
          </a:xfrm>
          <a:prstGeom prst="ellipse">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760"/>
            <a:ext cx="11247120" cy="1097280"/>
          </a:xfrm>
          <a:prstGeom prst="rect">
            <a:avLst/>
          </a:prstGeom>
          <a:noFill/>
        </p:spPr>
        <p:txBody>
          <a:bodyPr wrap="square">
            <a:spAutoFit/>
          </a:bodyPr>
          <a:lstStyle/>
          <a:p>
            <a:pPr>
              <a:defRPr sz="4400" b="1">
                <a:solidFill>
                  <a:srgbClr val="9333EA"/>
                </a:solidFill>
                <a:latin typeface="Calibri"/>
              </a:defRPr>
            </a:pPr>
            <a:r>
              <a:t>The Photosynthesis Equation</a:t>
            </a:r>
          </a:p>
        </p:txBody>
      </p:sp>
      <p:sp>
        <p:nvSpPr>
          <p:cNvPr id="5" name="Rectangle 4"/>
          <p:cNvSpPr/>
          <p:nvPr/>
        </p:nvSpPr>
        <p:spPr>
          <a:xfrm>
            <a:off x="457200" y="1554480"/>
            <a:ext cx="1371600" cy="45720"/>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10698480" cy="4114800"/>
          </a:xfrm>
          <a:prstGeom prst="rect">
            <a:avLst/>
          </a:prstGeom>
          <a:noFill/>
        </p:spPr>
        <p:txBody>
          <a:bodyPr wrap="square">
            <a:spAutoFit/>
          </a:bodyPr>
          <a:lstStyle/>
          <a:p>
            <a:pPr>
              <a:spcBef>
                <a:spcPts val="600"/>
              </a:spcBef>
              <a:spcAft>
                <a:spcPts val="600"/>
              </a:spcAft>
              <a:defRPr sz="1800">
                <a:solidFill>
                  <a:srgbClr val="0F172A"/>
                </a:solidFill>
                <a:latin typeface="Calibri"/>
              </a:defRPr>
            </a:pPr>
            <a:r>
              <a:t>The overall equation for photosynthesis is 6 CO2 + 6 H2O + light energy → C6H12O6 (glucose) + 6 O2. This equation shows that photosynthesis requires carbon dioxide and water, and produces glucose and oxygen. For example, if we were to take a plant and measure the amount of carbon dioxide it absorbs and the amount of oxygen it produces, we could calculate the amount of glucose it produces using the photosynthesis equation.</a:t>
            </a:r>
          </a:p>
          <a:p>
            <a:pPr>
              <a:spcBef>
                <a:spcPts val="600"/>
              </a:spcBef>
              <a:spcAft>
                <a:spcPts val="600"/>
              </a:spcAft>
              <a:defRPr sz="1800">
                <a:solidFill>
                  <a:srgbClr val="0F172A"/>
                </a:solidFill>
                <a:latin typeface="Calibri"/>
              </a:defRPr>
            </a:pPr>
            <a:r>
              <a:t>The photosynthesis equation can be broken down into two stages: the light-dependent reactions and the light-independent reactions. The light-dependent reactions occur in the thylakoid membranes of chloroplasts and involve the absorption of light energy by pigments such as chlorophyll. The light-independent reactions, also known as the Calvin cycle, occur in the stroma of chloroplasts and involve the fixation of carbon dioxide into glucose.</a:t>
            </a:r>
          </a:p>
        </p:txBody>
      </p:sp>
      <p:sp>
        <p:nvSpPr>
          <p:cNvPr id="7" name="TextBox 6"/>
          <p:cNvSpPr txBox="1"/>
          <p:nvPr/>
        </p:nvSpPr>
        <p:spPr>
          <a:xfrm>
            <a:off x="731520" y="5303520"/>
            <a:ext cx="10698480" cy="914400"/>
          </a:xfrm>
          <a:prstGeom prst="rect">
            <a:avLst/>
          </a:prstGeom>
          <a:noFill/>
        </p:spPr>
        <p:txBody>
          <a:bodyPr wrap="square">
            <a:spAutoFit/>
          </a:bodyPr>
          <a:lstStyle/>
          <a:p>
            <a:pPr>
              <a:defRPr sz="1200">
                <a:solidFill>
                  <a:srgbClr val="0F172A"/>
                </a:solidFill>
                <a:latin typeface="Calibri"/>
              </a:defRPr>
            </a:pPr>
            <a:r>
              <a:t>Notes: Write the overall equation on the board</a:t>
            </a:r>
            <a:br/>
            <a:r>
              <a:t> Emphasize the importance of light energy in the process</a:t>
            </a:r>
          </a:p>
        </p:txBody>
      </p:sp>
      <p:sp>
        <p:nvSpPr>
          <p:cNvPr id="8" name="TextBox 7"/>
          <p:cNvSpPr txBox="1"/>
          <p:nvPr/>
        </p:nvSpPr>
        <p:spPr>
          <a:xfrm>
            <a:off x="731520" y="6217920"/>
            <a:ext cx="10698480" cy="548640"/>
          </a:xfrm>
          <a:prstGeom prst="rect">
            <a:avLst/>
          </a:prstGeom>
          <a:noFill/>
        </p:spPr>
        <p:txBody>
          <a:bodyPr wrap="none">
            <a:spAutoFit/>
          </a:bodyPr>
          <a:lstStyle/>
          <a:p>
            <a:pPr>
              <a:defRPr sz="1100" i="1">
                <a:solidFill>
                  <a:srgbClr val="9333EA"/>
                </a:solidFill>
              </a:defRPr>
            </a:pPr>
            <a:r>
              <a:t>🎬 Read academic articles on Google Scholar: https://scholar.google.com/scholar?q=Photosynthesis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914400"/>
            <a:ext cx="5486400" cy="5486400"/>
          </a:xfrm>
          <a:prstGeom prst="ellipse">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3657600"/>
            <a:ext cx="4572000" cy="4572000"/>
          </a:xfrm>
          <a:prstGeom prst="ellipse">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760"/>
            <a:ext cx="11247120" cy="1097280"/>
          </a:xfrm>
          <a:prstGeom prst="rect">
            <a:avLst/>
          </a:prstGeom>
          <a:noFill/>
        </p:spPr>
        <p:txBody>
          <a:bodyPr wrap="square">
            <a:spAutoFit/>
          </a:bodyPr>
          <a:lstStyle/>
          <a:p>
            <a:pPr>
              <a:defRPr sz="4400" b="1">
                <a:solidFill>
                  <a:srgbClr val="9333EA"/>
                </a:solidFill>
                <a:latin typeface="Calibri"/>
              </a:defRPr>
            </a:pPr>
            <a:r>
              <a:t>Factors Affecting Photosynthesis</a:t>
            </a:r>
          </a:p>
        </p:txBody>
      </p:sp>
      <p:sp>
        <p:nvSpPr>
          <p:cNvPr id="5" name="Rectangle 4"/>
          <p:cNvSpPr/>
          <p:nvPr/>
        </p:nvSpPr>
        <p:spPr>
          <a:xfrm>
            <a:off x="457200" y="1554480"/>
            <a:ext cx="1371600" cy="45720"/>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10698480" cy="4114800"/>
          </a:xfrm>
          <a:prstGeom prst="rect">
            <a:avLst/>
          </a:prstGeom>
          <a:noFill/>
        </p:spPr>
        <p:txBody>
          <a:bodyPr wrap="square">
            <a:spAutoFit/>
          </a:bodyPr>
          <a:lstStyle/>
          <a:p>
            <a:pPr>
              <a:spcBef>
                <a:spcPts val="600"/>
              </a:spcBef>
              <a:spcAft>
                <a:spcPts val="600"/>
              </a:spcAft>
              <a:defRPr sz="1800">
                <a:solidFill>
                  <a:srgbClr val="0F172A"/>
                </a:solidFill>
                <a:latin typeface="Calibri"/>
              </a:defRPr>
            </a:pPr>
            <a:r>
              <a:t>Photosynthesis is affected by several factors, including light intensity, temperature, water availability, and carbon dioxide concentration. For example, if a plant is exposed to high light intensity, it may experience photoinhibition, which can reduce its ability to perform photosynthesis. On the other hand, if a plant is exposed to low light intensity, it may experience reduced growth and development.</a:t>
            </a:r>
          </a:p>
          <a:p>
            <a:pPr>
              <a:spcBef>
                <a:spcPts val="600"/>
              </a:spcBef>
              <a:spcAft>
                <a:spcPts val="600"/>
              </a:spcAft>
              <a:defRPr sz="1800">
                <a:solidFill>
                  <a:srgbClr val="0F172A"/>
                </a:solidFill>
                <a:latin typeface="Calibri"/>
              </a:defRPr>
            </a:pPr>
            <a:r>
              <a:t>Optimal temperature for photosynthesis varies among different species, but most plants have an optimal temperature between 20-30°C. At temperatures above 35°C, photosynthesis can be severely inhibited, while at temperatures below 10°C, photosynthesis can be greatly reduced.</a:t>
            </a:r>
          </a:p>
        </p:txBody>
      </p:sp>
      <p:sp>
        <p:nvSpPr>
          <p:cNvPr id="7" name="TextBox 6"/>
          <p:cNvSpPr txBox="1"/>
          <p:nvPr/>
        </p:nvSpPr>
        <p:spPr>
          <a:xfrm>
            <a:off x="731520" y="5303520"/>
            <a:ext cx="10698480" cy="914400"/>
          </a:xfrm>
          <a:prstGeom prst="rect">
            <a:avLst/>
          </a:prstGeom>
          <a:noFill/>
        </p:spPr>
        <p:txBody>
          <a:bodyPr wrap="square">
            <a:spAutoFit/>
          </a:bodyPr>
          <a:lstStyle/>
          <a:p>
            <a:pPr>
              <a:defRPr sz="1200">
                <a:solidFill>
                  <a:srgbClr val="0F172A"/>
                </a:solidFill>
                <a:latin typeface="Calibri"/>
              </a:defRPr>
            </a:pPr>
            <a:r>
              <a:t>Notes: Discuss the effects of temperature on photosynthesis</a:t>
            </a:r>
            <a:br/>
            <a:r>
              <a:t> Emphasize the importance of optimal temperature for plant growth</a:t>
            </a:r>
          </a:p>
        </p:txBody>
      </p:sp>
      <p:sp>
        <p:nvSpPr>
          <p:cNvPr id="8" name="TextBox 7"/>
          <p:cNvSpPr txBox="1"/>
          <p:nvPr/>
        </p:nvSpPr>
        <p:spPr>
          <a:xfrm>
            <a:off x="731520" y="6217920"/>
            <a:ext cx="10698480" cy="548640"/>
          </a:xfrm>
          <a:prstGeom prst="rect">
            <a:avLst/>
          </a:prstGeom>
          <a:noFill/>
        </p:spPr>
        <p:txBody>
          <a:bodyPr wrap="none">
            <a:spAutoFit/>
          </a:bodyPr>
          <a:lstStyle/>
          <a:p>
            <a:pPr>
              <a:defRPr sz="1100" i="1">
                <a:solidFill>
                  <a:srgbClr val="9333EA"/>
                </a:solidFill>
              </a:defRPr>
            </a:pPr>
            <a:r>
              <a:t>🎬 Watch related video on YouTube: https://www.youtube.com/results?search_query=Photosynthesis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